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Surveys are how businesses learn what customers think, but most surveys are a chore. Two out of three customers won’t finish a long survey. Worse, almost one in five (19%) have stopped doing business with a company because its survey was too long, and 23% because it kept sending too many. So a bad survey costs answers and customers.
Even the people who start don’t finish: in nine years of survey data, over three quarters of those who dropped out had already got past the halfway point. You paid to reach them and still lost the answers.
Research on survey fatigue says the same thing: bored respondents give careless answers, skip questions or quit, which biases the data and wastes the resources spent collecting it.
Extra figures if asked: 72% of customers never hear back after completing a survey; 71% assume nothing will change because of their feedback (Forbes / Hyken, 2024). Incentives can lift response rates by 10–15% (Ghafourifard, 2024).
Transition: So what if a survey didn’t feel like a survey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setup. The business types what it wants to learn in a sentence or two, for example how first-time customers at a café found them and whether they’d come back.
Then they pick one of four games (detective, RPG quest, quiz show or platformer), the number of questions, the language (English or Hindi) and the tone.
They click Generate, and the AI writes the survey questions and a story game around them. Next they can edit everything in the Game Editor and publish a short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Generate, the business lands in the Game Builder. The questions are on the left, and the real game runs in the middle as a live preview.
Every question can be edited: the wording, the answer options, the scale labels. If one isn’t right, “New question” asks the AI for another in the same style.
In the clip, the survey is renamed and the title in the game changes as it’s typed. Then Styles recolours the whole game, including the map, cards and buttons, and the colours always stay readable.
When it looks right, Publish gives one short link to share, with an optional coupon for everyone who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customer sees: a short link opens a game, with no app to install and no sign-up.
On the left, the detective game with the phone held upright. Each witness asks one question, and every answer pins a clue to the evidence board.
On the right, the platformer with the phone turned sideways. The player runs and jumps to a checkpoint, answers the question there and collects a star. There are no lives and no timer, and the running can be skipped, so it never gets in the way of answering.
Every finished game saves one response, and it can earn the player a coupon.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gif"/><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gif"/><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image" Target="../media/image-4-2.gif"/><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09905" y="457200"/>
            <a:ext cx="7924190" cy="896112"/>
          </a:xfrm>
          <a:prstGeom prst="rect">
            <a:avLst/>
          </a:prstGeom>
          <a:noFill/>
          <a:ln/>
        </p:spPr>
        <p:txBody>
          <a:bodyPr wrap="square" lIns="0" tIns="0" rIns="0" bIns="0" rtlCol="0" anchor="t"/>
          <a:lstStyle/>
          <a:p>
            <a:pPr indent="0" marL="0">
              <a:lnSpc>
                <a:spcPct val="95000"/>
              </a:lnSpc>
              <a:buNone/>
            </a:pPr>
            <a:r>
              <a:rPr lang="en-US" sz="3000" b="1" dirty="0">
                <a:solidFill>
                  <a:srgbClr val="15171F"/>
                </a:solidFill>
                <a:latin typeface="Aptos Narrow" pitchFamily="34" charset="0"/>
                <a:ea typeface="Aptos Narrow" pitchFamily="34" charset="-122"/>
                <a:cs typeface="Aptos Narrow" pitchFamily="34" charset="-120"/>
              </a:rPr>
              <a:t>People quit long surveys, </a:t>
            </a:r>
            <a:pPr indent="0" marL="0">
              <a:lnSpc>
                <a:spcPct val="95000"/>
              </a:lnSpc>
              <a:buNone/>
            </a:pPr>
            <a:r>
              <a:rPr lang="en-US" sz="3000" b="1" dirty="0">
                <a:solidFill>
                  <a:srgbClr val="D2361C"/>
                </a:solidFill>
                <a:latin typeface="Aptos Narrow" pitchFamily="34" charset="0"/>
                <a:ea typeface="Aptos Narrow" pitchFamily="34" charset="-122"/>
                <a:cs typeface="Aptos Narrow" pitchFamily="34" charset="-120"/>
              </a:rPr>
              <a:t>and take their business with them</a:t>
            </a:r>
            <a:endParaRPr lang="en-US" sz="3000" dirty="0"/>
          </a:p>
        </p:txBody>
      </p:sp>
      <p:sp>
        <p:nvSpPr>
          <p:cNvPr id="3" name="Shape 1"/>
          <p:cNvSpPr/>
          <p:nvPr/>
        </p:nvSpPr>
        <p:spPr>
          <a:xfrm>
            <a:off x="609905" y="1508760"/>
            <a:ext cx="3904488" cy="2157984"/>
          </a:xfrm>
          <a:prstGeom prst="roundRect">
            <a:avLst>
              <a:gd name="adj" fmla="val 5085"/>
            </a:avLst>
          </a:prstGeom>
          <a:solidFill>
            <a:srgbClr val="D2361C"/>
          </a:solidFill>
          <a:ln w="12700">
            <a:solidFill>
              <a:srgbClr val="D2361C"/>
            </a:solidFill>
            <a:prstDash val="solid"/>
          </a:ln>
          <a:effectLst>
            <a:outerShdw sx="100000" sy="100000" kx="0" ky="0" algn="bl" rotWithShape="0" blurRad="177800" dist="76200" dir="5400000">
              <a:srgbClr val="15171F">
                <a:alpha val="22000"/>
              </a:srgbClr>
            </a:outerShdw>
          </a:effectLst>
        </p:spPr>
      </p:sp>
      <p:pic>
        <p:nvPicPr>
          <p:cNvPr id="4" name="Image 0" descr="/private/tmp/claude-501/-Users-hansa-Documents-GitHub-questpulse/22de3368-1eea-47db-b651-c8654cb44cdc/scratchpad/pptx/people.png">    </p:cNvPr>
          <p:cNvPicPr>
            <a:picLocks noChangeAspect="1"/>
          </p:cNvPicPr>
          <p:nvPr/>
        </p:nvPicPr>
        <p:blipFill>
          <a:blip r:embed="rId1"/>
          <a:stretch>
            <a:fillRect/>
          </a:stretch>
        </p:blipFill>
        <p:spPr>
          <a:xfrm>
            <a:off x="856793" y="1746504"/>
            <a:ext cx="1078992" cy="384048"/>
          </a:xfrm>
          <a:prstGeom prst="rect">
            <a:avLst/>
          </a:prstGeom>
        </p:spPr>
      </p:pic>
      <p:sp>
        <p:nvSpPr>
          <p:cNvPr id="5" name="Text 2"/>
          <p:cNvSpPr/>
          <p:nvPr/>
        </p:nvSpPr>
        <p:spPr>
          <a:xfrm>
            <a:off x="838505" y="2112264"/>
            <a:ext cx="3447288" cy="914400"/>
          </a:xfrm>
          <a:prstGeom prst="rect">
            <a:avLst/>
          </a:prstGeom>
          <a:noFill/>
          <a:ln/>
        </p:spPr>
        <p:txBody>
          <a:bodyPr wrap="square" lIns="0" tIns="0" rIns="0" bIns="0" rtlCol="0" anchor="ctr"/>
          <a:lstStyle/>
          <a:p>
            <a:pPr indent="0" marL="0">
              <a:buNone/>
            </a:pPr>
            <a:r>
              <a:rPr lang="en-US" sz="7600" b="1" dirty="0">
                <a:solidFill>
                  <a:srgbClr val="FFF8F2"/>
                </a:solidFill>
                <a:latin typeface="Aptos Narrow" pitchFamily="34" charset="0"/>
                <a:ea typeface="Aptos Narrow" pitchFamily="34" charset="-122"/>
                <a:cs typeface="Aptos Narrow" pitchFamily="34" charset="-120"/>
              </a:rPr>
              <a:t>1 in 5</a:t>
            </a:r>
            <a:endParaRPr lang="en-US" sz="7600" dirty="0"/>
          </a:p>
        </p:txBody>
      </p:sp>
      <p:sp>
        <p:nvSpPr>
          <p:cNvPr id="6" name="Text 3"/>
          <p:cNvSpPr/>
          <p:nvPr/>
        </p:nvSpPr>
        <p:spPr>
          <a:xfrm>
            <a:off x="838505" y="3044952"/>
            <a:ext cx="3447288" cy="548640"/>
          </a:xfrm>
          <a:prstGeom prst="rect">
            <a:avLst/>
          </a:prstGeom>
          <a:noFill/>
          <a:ln/>
        </p:spPr>
        <p:txBody>
          <a:bodyPr wrap="square" lIns="0" tIns="0" rIns="0" bIns="0" rtlCol="0" anchor="t"/>
          <a:lstStyle/>
          <a:p>
            <a:pPr indent="0" marL="0">
              <a:lnSpc>
                <a:spcPct val="105000"/>
              </a:lnSpc>
              <a:buNone/>
            </a:pPr>
            <a:r>
              <a:rPr lang="en-US" sz="1500" dirty="0">
                <a:solidFill>
                  <a:srgbClr val="FFF8F2"/>
                </a:solidFill>
                <a:latin typeface="Aptos" pitchFamily="34" charset="0"/>
                <a:ea typeface="Aptos" pitchFamily="34" charset="-122"/>
                <a:cs typeface="Aptos" pitchFamily="34" charset="-120"/>
              </a:rPr>
              <a:t>customers have </a:t>
            </a:r>
            <a:pPr indent="0" marL="0">
              <a:lnSpc>
                <a:spcPct val="105000"/>
              </a:lnSpc>
              <a:buNone/>
            </a:pPr>
            <a:r>
              <a:rPr lang="en-US" sz="1500" b="1" dirty="0">
                <a:solidFill>
                  <a:srgbClr val="FFF8F2"/>
                </a:solidFill>
                <a:latin typeface="Aptos" pitchFamily="34" charset="0"/>
                <a:ea typeface="Aptos" pitchFamily="34" charset="-122"/>
                <a:cs typeface="Aptos" pitchFamily="34" charset="-120"/>
              </a:rPr>
              <a:t>stopped buying</a:t>
            </a:r>
            <a:pPr indent="0" marL="0">
              <a:lnSpc>
                <a:spcPct val="105000"/>
              </a:lnSpc>
              <a:buNone/>
            </a:pPr>
            <a:r>
              <a:rPr lang="en-US" sz="1500" dirty="0">
                <a:solidFill>
                  <a:srgbClr val="FFF8F2"/>
                </a:solidFill>
                <a:latin typeface="Aptos" pitchFamily="34" charset="0"/>
                <a:ea typeface="Aptos" pitchFamily="34" charset="-122"/>
                <a:cs typeface="Aptos" pitchFamily="34" charset="-120"/>
              </a:rPr>
              <a:t> from a brand because its survey was too long</a:t>
            </a:r>
            <a:endParaRPr lang="en-US" sz="1500" dirty="0"/>
          </a:p>
        </p:txBody>
      </p:sp>
      <p:sp>
        <p:nvSpPr>
          <p:cNvPr id="7" name="Shape 4"/>
          <p:cNvSpPr/>
          <p:nvPr/>
        </p:nvSpPr>
        <p:spPr>
          <a:xfrm>
            <a:off x="4816145" y="1508760"/>
            <a:ext cx="3717950" cy="0"/>
          </a:xfrm>
          <a:prstGeom prst="line">
            <a:avLst/>
          </a:prstGeom>
          <a:noFill/>
          <a:ln w="19050">
            <a:solidFill>
              <a:srgbClr val="15171F"/>
            </a:solidFill>
            <a:prstDash val="solid"/>
          </a:ln>
        </p:spPr>
      </p:sp>
      <p:pic>
        <p:nvPicPr>
          <p:cNvPr id="8" name="Image 1" descr="/private/tmp/claude-501/-Users-hansa-Documents-GitHub-questpulse/22de3368-1eea-47db-b651-c8654cb44cdc/scratchpad/pptx/clock.png">    </p:cNvPr>
          <p:cNvPicPr>
            <a:picLocks noChangeAspect="1"/>
          </p:cNvPicPr>
          <p:nvPr/>
        </p:nvPicPr>
        <p:blipFill>
          <a:blip r:embed="rId2"/>
          <a:stretch>
            <a:fillRect/>
          </a:stretch>
        </p:blipFill>
        <p:spPr>
          <a:xfrm>
            <a:off x="4816145" y="1883664"/>
            <a:ext cx="342900" cy="342900"/>
          </a:xfrm>
          <a:prstGeom prst="rect">
            <a:avLst/>
          </a:prstGeom>
        </p:spPr>
      </p:pic>
      <p:sp>
        <p:nvSpPr>
          <p:cNvPr id="9" name="Text 5"/>
          <p:cNvSpPr/>
          <p:nvPr/>
        </p:nvSpPr>
        <p:spPr>
          <a:xfrm>
            <a:off x="5273345" y="1728216"/>
            <a:ext cx="1417320" cy="658368"/>
          </a:xfrm>
          <a:prstGeom prst="rect">
            <a:avLst/>
          </a:prstGeom>
          <a:noFill/>
          <a:ln/>
        </p:spPr>
        <p:txBody>
          <a:bodyPr wrap="square" lIns="0" tIns="0" rIns="0" bIns="0" rtlCol="0" anchor="ctr"/>
          <a:lstStyle/>
          <a:p>
            <a:pPr indent="0" marL="0">
              <a:buNone/>
            </a:pPr>
            <a:r>
              <a:rPr lang="en-US" sz="4400" b="1" dirty="0">
                <a:solidFill>
                  <a:srgbClr val="15171F"/>
                </a:solidFill>
                <a:latin typeface="Aptos Narrow" pitchFamily="34" charset="0"/>
                <a:ea typeface="Aptos Narrow" pitchFamily="34" charset="-122"/>
                <a:cs typeface="Aptos Narrow" pitchFamily="34" charset="-120"/>
              </a:rPr>
              <a:t>67%</a:t>
            </a:r>
            <a:endParaRPr lang="en-US" sz="4400" dirty="0"/>
          </a:p>
        </p:txBody>
      </p:sp>
      <p:sp>
        <p:nvSpPr>
          <p:cNvPr id="10" name="Text 6"/>
          <p:cNvSpPr/>
          <p:nvPr/>
        </p:nvSpPr>
        <p:spPr>
          <a:xfrm>
            <a:off x="6736385" y="1783080"/>
            <a:ext cx="1797710" cy="548640"/>
          </a:xfrm>
          <a:prstGeom prst="rect">
            <a:avLst/>
          </a:prstGeom>
          <a:noFill/>
          <a:ln/>
        </p:spPr>
        <p:txBody>
          <a:bodyPr wrap="square" lIns="0" tIns="0" rIns="0" bIns="0" rtlCol="0" anchor="ctr"/>
          <a:lstStyle/>
          <a:p>
            <a:pPr indent="0" marL="0">
              <a:buNone/>
            </a:pPr>
            <a:r>
              <a:rPr lang="en-US" sz="1250" dirty="0">
                <a:solidFill>
                  <a:srgbClr val="3D4250"/>
                </a:solidFill>
                <a:latin typeface="Aptos" pitchFamily="34" charset="0"/>
                <a:ea typeface="Aptos" pitchFamily="34" charset="-122"/>
                <a:cs typeface="Aptos" pitchFamily="34" charset="-120"/>
              </a:rPr>
              <a:t>of customers </a:t>
            </a:r>
            <a:pPr indent="0" marL="0">
              <a:buNone/>
            </a:pPr>
            <a:r>
              <a:rPr lang="en-US" sz="1250" b="1" dirty="0">
                <a:solidFill>
                  <a:srgbClr val="15171F"/>
                </a:solidFill>
                <a:latin typeface="Aptos" pitchFamily="34" charset="0"/>
                <a:ea typeface="Aptos" pitchFamily="34" charset="-122"/>
                <a:cs typeface="Aptos" pitchFamily="34" charset="-120"/>
              </a:rPr>
              <a:t>won’t finish</a:t>
            </a:r>
            <a:pPr indent="0" marL="0">
              <a:buNone/>
            </a:pPr>
            <a:r>
              <a:rPr lang="en-US" sz="1250" dirty="0">
                <a:solidFill>
                  <a:srgbClr val="3D4250"/>
                </a:solidFill>
                <a:latin typeface="Aptos" pitchFamily="34" charset="0"/>
                <a:ea typeface="Aptos" pitchFamily="34" charset="-122"/>
                <a:cs typeface="Aptos" pitchFamily="34" charset="-120"/>
              </a:rPr>
              <a:t> a long survey</a:t>
            </a:r>
            <a:endParaRPr lang="en-US" sz="1250" dirty="0"/>
          </a:p>
        </p:txBody>
      </p:sp>
      <p:sp>
        <p:nvSpPr>
          <p:cNvPr id="11" name="Shape 7"/>
          <p:cNvSpPr/>
          <p:nvPr/>
        </p:nvSpPr>
        <p:spPr>
          <a:xfrm>
            <a:off x="4816145" y="2606040"/>
            <a:ext cx="3717950" cy="0"/>
          </a:xfrm>
          <a:prstGeom prst="line">
            <a:avLst/>
          </a:prstGeom>
          <a:noFill/>
          <a:ln w="19050">
            <a:solidFill>
              <a:srgbClr val="15171F"/>
            </a:solidFill>
            <a:prstDash val="solid"/>
          </a:ln>
        </p:spPr>
      </p:sp>
      <p:pic>
        <p:nvPicPr>
          <p:cNvPr id="12" name="Image 2" descr="/private/tmp/claude-501/-Users-hansa-Documents-GitHub-questpulse/22de3368-1eea-47db-b651-c8654cb44cdc/scratchpad/pptx/chart.png">    </p:cNvPr>
          <p:cNvPicPr>
            <a:picLocks noChangeAspect="1"/>
          </p:cNvPicPr>
          <p:nvPr/>
        </p:nvPicPr>
        <p:blipFill>
          <a:blip r:embed="rId3"/>
          <a:stretch>
            <a:fillRect/>
          </a:stretch>
        </p:blipFill>
        <p:spPr>
          <a:xfrm>
            <a:off x="4816145" y="2980944"/>
            <a:ext cx="342900" cy="342900"/>
          </a:xfrm>
          <a:prstGeom prst="rect">
            <a:avLst/>
          </a:prstGeom>
        </p:spPr>
      </p:pic>
      <p:sp>
        <p:nvSpPr>
          <p:cNvPr id="13" name="Text 8"/>
          <p:cNvSpPr/>
          <p:nvPr/>
        </p:nvSpPr>
        <p:spPr>
          <a:xfrm>
            <a:off x="5273345" y="2825496"/>
            <a:ext cx="1417320" cy="658368"/>
          </a:xfrm>
          <a:prstGeom prst="rect">
            <a:avLst/>
          </a:prstGeom>
          <a:noFill/>
          <a:ln/>
        </p:spPr>
        <p:txBody>
          <a:bodyPr wrap="square" lIns="0" tIns="0" rIns="0" bIns="0" rtlCol="0" anchor="ctr"/>
          <a:lstStyle/>
          <a:p>
            <a:pPr indent="0" marL="0">
              <a:buNone/>
            </a:pPr>
            <a:r>
              <a:rPr lang="en-US" sz="4400" b="1" dirty="0">
                <a:solidFill>
                  <a:srgbClr val="15171F"/>
                </a:solidFill>
                <a:latin typeface="Aptos Narrow" pitchFamily="34" charset="0"/>
                <a:ea typeface="Aptos Narrow" pitchFamily="34" charset="-122"/>
                <a:cs typeface="Aptos Narrow" pitchFamily="34" charset="-120"/>
              </a:rPr>
              <a:t>75%+</a:t>
            </a:r>
            <a:endParaRPr lang="en-US" sz="4400" dirty="0"/>
          </a:p>
        </p:txBody>
      </p:sp>
      <p:sp>
        <p:nvSpPr>
          <p:cNvPr id="14" name="Text 9"/>
          <p:cNvSpPr/>
          <p:nvPr/>
        </p:nvSpPr>
        <p:spPr>
          <a:xfrm>
            <a:off x="6736385" y="2734056"/>
            <a:ext cx="1797710" cy="603504"/>
          </a:xfrm>
          <a:prstGeom prst="rect">
            <a:avLst/>
          </a:prstGeom>
          <a:noFill/>
          <a:ln/>
        </p:spPr>
        <p:txBody>
          <a:bodyPr wrap="square" lIns="0" tIns="0" rIns="0" bIns="0" rtlCol="0" anchor="b"/>
          <a:lstStyle/>
          <a:p>
            <a:pPr indent="0" marL="0">
              <a:buNone/>
            </a:pPr>
            <a:r>
              <a:rPr lang="en-US" sz="1250" dirty="0">
                <a:solidFill>
                  <a:srgbClr val="3D4250"/>
                </a:solidFill>
                <a:latin typeface="Aptos" pitchFamily="34" charset="0"/>
                <a:ea typeface="Aptos" pitchFamily="34" charset="-122"/>
                <a:cs typeface="Aptos" pitchFamily="34" charset="-120"/>
              </a:rPr>
              <a:t>of drop-outs quit </a:t>
            </a:r>
            <a:pPr indent="0" marL="0">
              <a:buNone/>
            </a:pPr>
            <a:r>
              <a:rPr lang="en-US" sz="1250" b="1" dirty="0">
                <a:solidFill>
                  <a:srgbClr val="15171F"/>
                </a:solidFill>
                <a:latin typeface="Aptos" pitchFamily="34" charset="0"/>
                <a:ea typeface="Aptos" pitchFamily="34" charset="-122"/>
                <a:cs typeface="Aptos" pitchFamily="34" charset="-120"/>
              </a:rPr>
              <a:t>past halfway</a:t>
            </a:r>
            <a:pPr indent="0" marL="0">
              <a:buNone/>
            </a:pPr>
            <a:r>
              <a:rPr lang="en-US" sz="1250" dirty="0">
                <a:solidFill>
                  <a:srgbClr val="3D4250"/>
                </a:solidFill>
                <a:latin typeface="Aptos" pitchFamily="34" charset="0"/>
                <a:ea typeface="Aptos" pitchFamily="34" charset="-122"/>
                <a:cs typeface="Aptos" pitchFamily="34" charset="-120"/>
              </a:rPr>
              <a:t>, after you paid to reach them</a:t>
            </a:r>
            <a:endParaRPr lang="en-US" sz="1250" dirty="0"/>
          </a:p>
        </p:txBody>
      </p:sp>
      <p:pic>
        <p:nvPicPr>
          <p:cNvPr id="15" name="Image 3" descr="/private/tmp/claude-501/-Users-hansa-Documents-GitHub-questpulse/22de3368-1eea-47db-b651-c8654cb44cdc/scratchpad/pptx/progress.png">    </p:cNvPr>
          <p:cNvPicPr>
            <a:picLocks noChangeAspect="1"/>
          </p:cNvPicPr>
          <p:nvPr/>
        </p:nvPicPr>
        <p:blipFill>
          <a:blip r:embed="rId4"/>
          <a:stretch>
            <a:fillRect/>
          </a:stretch>
        </p:blipFill>
        <p:spPr>
          <a:xfrm>
            <a:off x="6736385" y="3410712"/>
            <a:ext cx="1797710" cy="143817"/>
          </a:xfrm>
          <a:prstGeom prst="rect">
            <a:avLst/>
          </a:prstGeom>
        </p:spPr>
      </p:pic>
      <p:pic>
        <p:nvPicPr>
          <p:cNvPr id="16" name="Image 4" descr="/private/tmp/claude-501/-Users-hansa-Documents-GitHub-questpulse/22de3368-1eea-47db-b651-c8654cb44cdc/scratchpad/pptx/warning.png">    </p:cNvPr>
          <p:cNvPicPr>
            <a:picLocks noChangeAspect="1"/>
          </p:cNvPicPr>
          <p:nvPr/>
        </p:nvPicPr>
        <p:blipFill>
          <a:blip r:embed="rId5"/>
          <a:stretch>
            <a:fillRect/>
          </a:stretch>
        </p:blipFill>
        <p:spPr>
          <a:xfrm>
            <a:off x="609905" y="3931920"/>
            <a:ext cx="274320" cy="274320"/>
          </a:xfrm>
          <a:prstGeom prst="rect">
            <a:avLst/>
          </a:prstGeom>
        </p:spPr>
      </p:pic>
      <p:sp>
        <p:nvSpPr>
          <p:cNvPr id="17" name="Text 10"/>
          <p:cNvSpPr/>
          <p:nvPr/>
        </p:nvSpPr>
        <p:spPr>
          <a:xfrm>
            <a:off x="1021385" y="3904488"/>
            <a:ext cx="7512710" cy="329184"/>
          </a:xfrm>
          <a:prstGeom prst="rect">
            <a:avLst/>
          </a:prstGeom>
          <a:noFill/>
          <a:ln/>
        </p:spPr>
        <p:txBody>
          <a:bodyPr wrap="square" lIns="0" tIns="0" rIns="0" bIns="0" rtlCol="0" anchor="ctr"/>
          <a:lstStyle/>
          <a:p>
            <a:pPr indent="0" marL="0">
              <a:buNone/>
            </a:pPr>
            <a:r>
              <a:rPr lang="en-US" sz="1400" b="1" dirty="0">
                <a:solidFill>
                  <a:srgbClr val="15171F"/>
                </a:solidFill>
                <a:latin typeface="Aptos" pitchFamily="34" charset="0"/>
                <a:ea typeface="Aptos" pitchFamily="34" charset="-122"/>
                <a:cs typeface="Aptos" pitchFamily="34" charset="-120"/>
              </a:rPr>
              <a:t>Tired respondents rush, skip and quit: the data is biased and the spend is wasted.</a:t>
            </a:r>
            <a:endParaRPr lang="en-US" sz="1400" dirty="0"/>
          </a:p>
        </p:txBody>
      </p:sp>
      <p:sp>
        <p:nvSpPr>
          <p:cNvPr id="18" name="Text 11"/>
          <p:cNvSpPr/>
          <p:nvPr/>
        </p:nvSpPr>
        <p:spPr>
          <a:xfrm>
            <a:off x="609905" y="4617720"/>
            <a:ext cx="7924190" cy="228600"/>
          </a:xfrm>
          <a:prstGeom prst="rect">
            <a:avLst/>
          </a:prstGeom>
          <a:noFill/>
          <a:ln/>
        </p:spPr>
        <p:txBody>
          <a:bodyPr wrap="square" lIns="0" tIns="0" rIns="0" bIns="0" rtlCol="0" anchor="ctr"/>
          <a:lstStyle/>
          <a:p>
            <a:pPr indent="0" marL="0">
              <a:buNone/>
            </a:pPr>
            <a:r>
              <a:rPr lang="en-US" sz="900" dirty="0">
                <a:solidFill>
                  <a:srgbClr val="5B6070"/>
                </a:solidFill>
                <a:latin typeface="Aptos" pitchFamily="34" charset="0"/>
                <a:ea typeface="Aptos" pitchFamily="34" charset="-122"/>
                <a:cs typeface="Aptos" pitchFamily="34" charset="-120"/>
              </a:rPr>
              <a:t>Sources: Hyken &amp; RingCentral, Forbes 2024 · Impact &amp; Insight Toolkit, 2015–24 data · Ghafourifard, J Caring Sci 2024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09905" y="457200"/>
            <a:ext cx="7924190" cy="502920"/>
          </a:xfrm>
          <a:prstGeom prst="rect">
            <a:avLst/>
          </a:prstGeom>
          <a:noFill/>
          <a:ln/>
        </p:spPr>
        <p:txBody>
          <a:bodyPr wrap="square" lIns="0" tIns="0" rIns="0" bIns="0" rtlCol="0" anchor="t"/>
          <a:lstStyle/>
          <a:p>
            <a:pPr indent="0" marL="0">
              <a:buNone/>
            </a:pPr>
            <a:r>
              <a:rPr lang="en-US" sz="3000" b="1" dirty="0">
                <a:solidFill>
                  <a:srgbClr val="15171F"/>
                </a:solidFill>
                <a:latin typeface="Aptos Narrow" pitchFamily="34" charset="0"/>
                <a:ea typeface="Aptos Narrow" pitchFamily="34" charset="-122"/>
                <a:cs typeface="Aptos Narrow" pitchFamily="34" charset="-120"/>
              </a:rPr>
              <a:t>From one sentence </a:t>
            </a:r>
            <a:pPr indent="0" marL="0">
              <a:buNone/>
            </a:pPr>
            <a:r>
              <a:rPr lang="en-US" sz="3000" b="1" dirty="0">
                <a:solidFill>
                  <a:srgbClr val="D2361C"/>
                </a:solidFill>
                <a:latin typeface="Aptos Narrow" pitchFamily="34" charset="0"/>
                <a:ea typeface="Aptos Narrow" pitchFamily="34" charset="-122"/>
                <a:cs typeface="Aptos Narrow" pitchFamily="34" charset="-120"/>
              </a:rPr>
              <a:t>to a survey game</a:t>
            </a:r>
            <a:endParaRPr lang="en-US" sz="3000" dirty="0"/>
          </a:p>
        </p:txBody>
      </p:sp>
      <p:sp>
        <p:nvSpPr>
          <p:cNvPr id="3" name="Shape 1"/>
          <p:cNvSpPr/>
          <p:nvPr/>
        </p:nvSpPr>
        <p:spPr>
          <a:xfrm>
            <a:off x="3580790" y="1207008"/>
            <a:ext cx="4953305" cy="3269551"/>
          </a:xfrm>
          <a:prstGeom prst="roundRect">
            <a:avLst>
              <a:gd name="adj" fmla="val 2797"/>
            </a:avLst>
          </a:prstGeom>
          <a:solidFill>
            <a:srgbClr val="EEEBE5"/>
          </a:solidFill>
          <a:ln w="9525">
            <a:solidFill>
              <a:srgbClr val="E2DED6"/>
            </a:solidFill>
            <a:prstDash val="solid"/>
          </a:ln>
          <a:effectLst>
            <a:outerShdw sx="100000" sy="100000" kx="0" ky="0" algn="bl" rotWithShape="0" blurRad="228600" dist="101600" dir="5400000">
              <a:srgbClr val="15171F">
                <a:alpha val="16000"/>
              </a:srgbClr>
            </a:outerShdw>
          </a:effectLst>
        </p:spPr>
      </p:sp>
      <p:sp>
        <p:nvSpPr>
          <p:cNvPr id="4" name="Shape 2"/>
          <p:cNvSpPr/>
          <p:nvPr/>
        </p:nvSpPr>
        <p:spPr>
          <a:xfrm>
            <a:off x="3672230" y="1265530"/>
            <a:ext cx="56693" cy="56693"/>
          </a:xfrm>
          <a:prstGeom prst="ellipse">
            <a:avLst/>
          </a:prstGeom>
          <a:solidFill>
            <a:srgbClr val="E0705E"/>
          </a:solidFill>
          <a:ln w="12700">
            <a:solidFill>
              <a:srgbClr val="E0705E"/>
            </a:solidFill>
            <a:prstDash val="solid"/>
          </a:ln>
        </p:spPr>
      </p:sp>
      <p:sp>
        <p:nvSpPr>
          <p:cNvPr id="5" name="Shape 3"/>
          <p:cNvSpPr/>
          <p:nvPr/>
        </p:nvSpPr>
        <p:spPr>
          <a:xfrm>
            <a:off x="3772814" y="1265530"/>
            <a:ext cx="56693" cy="56693"/>
          </a:xfrm>
          <a:prstGeom prst="ellipse">
            <a:avLst/>
          </a:prstGeom>
          <a:solidFill>
            <a:srgbClr val="E8B44F"/>
          </a:solidFill>
          <a:ln w="12700">
            <a:solidFill>
              <a:srgbClr val="E8B44F"/>
            </a:solidFill>
            <a:prstDash val="solid"/>
          </a:ln>
        </p:spPr>
      </p:sp>
      <p:sp>
        <p:nvSpPr>
          <p:cNvPr id="6" name="Shape 4"/>
          <p:cNvSpPr/>
          <p:nvPr/>
        </p:nvSpPr>
        <p:spPr>
          <a:xfrm>
            <a:off x="3873398" y="1265530"/>
            <a:ext cx="56693" cy="56693"/>
          </a:xfrm>
          <a:prstGeom prst="ellipse">
            <a:avLst/>
          </a:prstGeom>
          <a:solidFill>
            <a:srgbClr val="7BB36A"/>
          </a:solidFill>
          <a:ln w="12700">
            <a:solidFill>
              <a:srgbClr val="7BB36A"/>
            </a:solidFill>
            <a:prstDash val="solid"/>
          </a:ln>
        </p:spPr>
      </p:sp>
      <p:pic>
        <p:nvPicPr>
          <p:cNvPr id="7" name="Image 0" descr="QuestPulse prompt page: a business types what it wants to learn, picks the RPG Quest game and a warm tone, then clicks Generate questions">    </p:cNvPr>
          <p:cNvPicPr>
            <a:picLocks noChangeAspect="1"/>
          </p:cNvPicPr>
          <p:nvPr/>
        </p:nvPicPr>
        <p:blipFill>
          <a:blip r:embed="rId1"/>
          <a:stretch>
            <a:fillRect/>
          </a:stretch>
        </p:blipFill>
        <p:spPr>
          <a:xfrm>
            <a:off x="3580790" y="1380744"/>
            <a:ext cx="4953305" cy="3095815"/>
          </a:xfrm>
          <a:prstGeom prst="rect">
            <a:avLst/>
          </a:prstGeom>
        </p:spPr>
      </p:pic>
      <p:sp>
        <p:nvSpPr>
          <p:cNvPr id="8" name="Shape 5"/>
          <p:cNvSpPr/>
          <p:nvPr/>
        </p:nvSpPr>
        <p:spPr>
          <a:xfrm>
            <a:off x="609905" y="1371600"/>
            <a:ext cx="329184" cy="329184"/>
          </a:xfrm>
          <a:prstGeom prst="ellipse">
            <a:avLst/>
          </a:prstGeom>
          <a:solidFill>
            <a:srgbClr val="D2361C"/>
          </a:solidFill>
          <a:ln w="12700">
            <a:solidFill>
              <a:srgbClr val="D2361C"/>
            </a:solidFill>
            <a:prstDash val="solid"/>
          </a:ln>
        </p:spPr>
      </p:sp>
      <p:sp>
        <p:nvSpPr>
          <p:cNvPr id="9" name="Text 6"/>
          <p:cNvSpPr/>
          <p:nvPr/>
        </p:nvSpPr>
        <p:spPr>
          <a:xfrm>
            <a:off x="609905" y="1371600"/>
            <a:ext cx="329184" cy="329184"/>
          </a:xfrm>
          <a:prstGeom prst="rect">
            <a:avLst/>
          </a:prstGeom>
          <a:noFill/>
          <a:ln/>
        </p:spPr>
        <p:txBody>
          <a:bodyPr wrap="square" lIns="0" tIns="0" rIns="0" bIns="0" rtlCol="0" anchor="ctr"/>
          <a:lstStyle/>
          <a:p>
            <a:pPr algn="ctr" indent="0" marL="0">
              <a:buNone/>
            </a:pPr>
            <a:r>
              <a:rPr lang="en-US" sz="1500" b="1" dirty="0">
                <a:solidFill>
                  <a:srgbClr val="FFF8F2"/>
                </a:solidFill>
                <a:latin typeface="Aptos Narrow" pitchFamily="34" charset="0"/>
                <a:ea typeface="Aptos Narrow" pitchFamily="34" charset="-122"/>
                <a:cs typeface="Aptos Narrow" pitchFamily="34" charset="-120"/>
              </a:rPr>
              <a:t>1</a:t>
            </a:r>
            <a:endParaRPr lang="en-US" sz="1500" dirty="0"/>
          </a:p>
        </p:txBody>
      </p:sp>
      <p:sp>
        <p:nvSpPr>
          <p:cNvPr id="10" name="Text 7"/>
          <p:cNvSpPr/>
          <p:nvPr/>
        </p:nvSpPr>
        <p:spPr>
          <a:xfrm>
            <a:off x="1067105" y="1353312"/>
            <a:ext cx="2211934" cy="868680"/>
          </a:xfrm>
          <a:prstGeom prst="rect">
            <a:avLst/>
          </a:prstGeom>
          <a:noFill/>
          <a:ln/>
        </p:spPr>
        <p:txBody>
          <a:bodyPr wrap="square" lIns="0" tIns="0" rIns="0" bIns="0" rtlCol="0" anchor="t"/>
          <a:lstStyle/>
          <a:p>
            <a:pPr indent="0" marL="0">
              <a:buNone/>
            </a:pPr>
            <a:r>
              <a:rPr lang="en-US" sz="1500" b="1" dirty="0">
                <a:solidFill>
                  <a:srgbClr val="15171F"/>
                </a:solidFill>
                <a:latin typeface="Aptos" pitchFamily="34" charset="0"/>
                <a:ea typeface="Aptos" pitchFamily="34" charset="-122"/>
                <a:cs typeface="Aptos" pitchFamily="34" charset="-120"/>
              </a:rPr>
              <a:t>Say what you want to learn</a:t>
            </a:r>
            <a:endParaRPr lang="en-US" sz="1500" dirty="0"/>
          </a:p>
          <a:p>
            <a:pPr indent="0" marL="0">
              <a:buNone/>
            </a:pPr>
            <a:r>
              <a:rPr lang="en-US" sz="400" dirty="0">
                <a:solidFill>
                  <a:srgbClr val="000000"/>
                </a:solidFill>
                <a:latin typeface="Aptos" pitchFamily="34" charset="0"/>
                <a:ea typeface="Aptos" pitchFamily="34" charset="-122"/>
                <a:cs typeface="Aptos" pitchFamily="34" charset="-120"/>
              </a:rPr>
              <a:t> </a:t>
            </a:r>
            <a:endParaRPr lang="en-US" sz="1500" dirty="0"/>
          </a:p>
          <a:p>
            <a:pPr indent="0" marL="0">
              <a:buNone/>
            </a:pPr>
            <a:r>
              <a:rPr lang="en-US" sz="1150" dirty="0">
                <a:solidFill>
                  <a:srgbClr val="4A4F5C"/>
                </a:solidFill>
                <a:latin typeface="Aptos" pitchFamily="34" charset="0"/>
                <a:ea typeface="Aptos" pitchFamily="34" charset="-122"/>
                <a:cs typeface="Aptos" pitchFamily="34" charset="-120"/>
              </a:rPr>
              <a:t>One or two sentences, in plain words</a:t>
            </a:r>
            <a:endParaRPr lang="en-US" sz="1500" dirty="0"/>
          </a:p>
        </p:txBody>
      </p:sp>
      <p:sp>
        <p:nvSpPr>
          <p:cNvPr id="11" name="Shape 8"/>
          <p:cNvSpPr/>
          <p:nvPr/>
        </p:nvSpPr>
        <p:spPr>
          <a:xfrm>
            <a:off x="609905" y="2395728"/>
            <a:ext cx="329184" cy="329184"/>
          </a:xfrm>
          <a:prstGeom prst="ellipse">
            <a:avLst/>
          </a:prstGeom>
          <a:solidFill>
            <a:srgbClr val="D2361C"/>
          </a:solidFill>
          <a:ln w="12700">
            <a:solidFill>
              <a:srgbClr val="D2361C"/>
            </a:solidFill>
            <a:prstDash val="solid"/>
          </a:ln>
        </p:spPr>
      </p:sp>
      <p:sp>
        <p:nvSpPr>
          <p:cNvPr id="12" name="Text 9"/>
          <p:cNvSpPr/>
          <p:nvPr/>
        </p:nvSpPr>
        <p:spPr>
          <a:xfrm>
            <a:off x="609905" y="2395728"/>
            <a:ext cx="329184" cy="329184"/>
          </a:xfrm>
          <a:prstGeom prst="rect">
            <a:avLst/>
          </a:prstGeom>
          <a:noFill/>
          <a:ln/>
        </p:spPr>
        <p:txBody>
          <a:bodyPr wrap="square" lIns="0" tIns="0" rIns="0" bIns="0" rtlCol="0" anchor="ctr"/>
          <a:lstStyle/>
          <a:p>
            <a:pPr algn="ctr" indent="0" marL="0">
              <a:buNone/>
            </a:pPr>
            <a:r>
              <a:rPr lang="en-US" sz="1500" b="1" dirty="0">
                <a:solidFill>
                  <a:srgbClr val="FFF8F2"/>
                </a:solidFill>
                <a:latin typeface="Aptos Narrow" pitchFamily="34" charset="0"/>
                <a:ea typeface="Aptos Narrow" pitchFamily="34" charset="-122"/>
                <a:cs typeface="Aptos Narrow" pitchFamily="34" charset="-120"/>
              </a:rPr>
              <a:t>2</a:t>
            </a:r>
            <a:endParaRPr lang="en-US" sz="1500" dirty="0"/>
          </a:p>
        </p:txBody>
      </p:sp>
      <p:sp>
        <p:nvSpPr>
          <p:cNvPr id="13" name="Text 10"/>
          <p:cNvSpPr/>
          <p:nvPr/>
        </p:nvSpPr>
        <p:spPr>
          <a:xfrm>
            <a:off x="1067105" y="2377440"/>
            <a:ext cx="2211934" cy="868680"/>
          </a:xfrm>
          <a:prstGeom prst="rect">
            <a:avLst/>
          </a:prstGeom>
          <a:noFill/>
          <a:ln/>
        </p:spPr>
        <p:txBody>
          <a:bodyPr wrap="square" lIns="0" tIns="0" rIns="0" bIns="0" rtlCol="0" anchor="t"/>
          <a:lstStyle/>
          <a:p>
            <a:pPr indent="0" marL="0">
              <a:buNone/>
            </a:pPr>
            <a:r>
              <a:rPr lang="en-US" sz="1500" b="1" dirty="0">
                <a:solidFill>
                  <a:srgbClr val="15171F"/>
                </a:solidFill>
                <a:latin typeface="Aptos" pitchFamily="34" charset="0"/>
                <a:ea typeface="Aptos" pitchFamily="34" charset="-122"/>
                <a:cs typeface="Aptos" pitchFamily="34" charset="-120"/>
              </a:rPr>
              <a:t>Pick a game and a tone</a:t>
            </a:r>
            <a:endParaRPr lang="en-US" sz="1500" dirty="0"/>
          </a:p>
          <a:p>
            <a:pPr indent="0" marL="0">
              <a:buNone/>
            </a:pPr>
            <a:r>
              <a:rPr lang="en-US" sz="400" dirty="0">
                <a:solidFill>
                  <a:srgbClr val="000000"/>
                </a:solidFill>
                <a:latin typeface="Aptos" pitchFamily="34" charset="0"/>
                <a:ea typeface="Aptos" pitchFamily="34" charset="-122"/>
                <a:cs typeface="Aptos" pitchFamily="34" charset="-120"/>
              </a:rPr>
              <a:t> </a:t>
            </a:r>
            <a:endParaRPr lang="en-US" sz="1500" dirty="0"/>
          </a:p>
          <a:p>
            <a:pPr indent="0" marL="0">
              <a:buNone/>
            </a:pPr>
            <a:r>
              <a:rPr lang="en-US" sz="1150" dirty="0">
                <a:solidFill>
                  <a:srgbClr val="4A4F5C"/>
                </a:solidFill>
                <a:latin typeface="Aptos" pitchFamily="34" charset="0"/>
                <a:ea typeface="Aptos" pitchFamily="34" charset="-122"/>
                <a:cs typeface="Aptos" pitchFamily="34" charset="-120"/>
              </a:rPr>
              <a:t>Detective, RPG quest, quiz show or platformer, in English or Hindi</a:t>
            </a:r>
            <a:endParaRPr lang="en-US" sz="1500" dirty="0"/>
          </a:p>
        </p:txBody>
      </p:sp>
      <p:sp>
        <p:nvSpPr>
          <p:cNvPr id="14" name="Shape 11"/>
          <p:cNvSpPr/>
          <p:nvPr/>
        </p:nvSpPr>
        <p:spPr>
          <a:xfrm>
            <a:off x="609905" y="3419856"/>
            <a:ext cx="329184" cy="329184"/>
          </a:xfrm>
          <a:prstGeom prst="ellipse">
            <a:avLst/>
          </a:prstGeom>
          <a:solidFill>
            <a:srgbClr val="D2361C"/>
          </a:solidFill>
          <a:ln w="12700">
            <a:solidFill>
              <a:srgbClr val="D2361C"/>
            </a:solidFill>
            <a:prstDash val="solid"/>
          </a:ln>
        </p:spPr>
      </p:sp>
      <p:sp>
        <p:nvSpPr>
          <p:cNvPr id="15" name="Text 12"/>
          <p:cNvSpPr/>
          <p:nvPr/>
        </p:nvSpPr>
        <p:spPr>
          <a:xfrm>
            <a:off x="609905" y="3419856"/>
            <a:ext cx="329184" cy="329184"/>
          </a:xfrm>
          <a:prstGeom prst="rect">
            <a:avLst/>
          </a:prstGeom>
          <a:noFill/>
          <a:ln/>
        </p:spPr>
        <p:txBody>
          <a:bodyPr wrap="square" lIns="0" tIns="0" rIns="0" bIns="0" rtlCol="0" anchor="ctr"/>
          <a:lstStyle/>
          <a:p>
            <a:pPr algn="ctr" indent="0" marL="0">
              <a:buNone/>
            </a:pPr>
            <a:r>
              <a:rPr lang="en-US" sz="1500" b="1" dirty="0">
                <a:solidFill>
                  <a:srgbClr val="FFF8F2"/>
                </a:solidFill>
                <a:latin typeface="Aptos Narrow" pitchFamily="34" charset="0"/>
                <a:ea typeface="Aptos Narrow" pitchFamily="34" charset="-122"/>
                <a:cs typeface="Aptos Narrow" pitchFamily="34" charset="-120"/>
              </a:rPr>
              <a:t>3</a:t>
            </a:r>
            <a:endParaRPr lang="en-US" sz="1500" dirty="0"/>
          </a:p>
        </p:txBody>
      </p:sp>
      <p:sp>
        <p:nvSpPr>
          <p:cNvPr id="16" name="Text 13"/>
          <p:cNvSpPr/>
          <p:nvPr/>
        </p:nvSpPr>
        <p:spPr>
          <a:xfrm>
            <a:off x="1067105" y="3401568"/>
            <a:ext cx="2211934" cy="868680"/>
          </a:xfrm>
          <a:prstGeom prst="rect">
            <a:avLst/>
          </a:prstGeom>
          <a:noFill/>
          <a:ln/>
        </p:spPr>
        <p:txBody>
          <a:bodyPr wrap="square" lIns="0" tIns="0" rIns="0" bIns="0" rtlCol="0" anchor="t"/>
          <a:lstStyle/>
          <a:p>
            <a:pPr indent="0" marL="0">
              <a:buNone/>
            </a:pPr>
            <a:r>
              <a:rPr lang="en-US" sz="1500" b="1" dirty="0">
                <a:solidFill>
                  <a:srgbClr val="15171F"/>
                </a:solidFill>
                <a:latin typeface="Aptos" pitchFamily="34" charset="0"/>
                <a:ea typeface="Aptos" pitchFamily="34" charset="-122"/>
                <a:cs typeface="Aptos" pitchFamily="34" charset="-120"/>
              </a:rPr>
              <a:t>Click Generate</a:t>
            </a:r>
            <a:endParaRPr lang="en-US" sz="1500" dirty="0"/>
          </a:p>
          <a:p>
            <a:pPr indent="0" marL="0">
              <a:buNone/>
            </a:pPr>
            <a:r>
              <a:rPr lang="en-US" sz="400" dirty="0">
                <a:solidFill>
                  <a:srgbClr val="000000"/>
                </a:solidFill>
                <a:latin typeface="Aptos" pitchFamily="34" charset="0"/>
                <a:ea typeface="Aptos" pitchFamily="34" charset="-122"/>
                <a:cs typeface="Aptos" pitchFamily="34" charset="-120"/>
              </a:rPr>
              <a:t> </a:t>
            </a:r>
            <a:endParaRPr lang="en-US" sz="1500" dirty="0"/>
          </a:p>
          <a:p>
            <a:pPr indent="0" marL="0">
              <a:buNone/>
            </a:pPr>
            <a:r>
              <a:rPr lang="en-US" sz="1150" dirty="0">
                <a:solidFill>
                  <a:srgbClr val="4A4F5C"/>
                </a:solidFill>
                <a:latin typeface="Aptos" pitchFamily="34" charset="0"/>
                <a:ea typeface="Aptos" pitchFamily="34" charset="-122"/>
                <a:cs typeface="Aptos" pitchFamily="34" charset="-120"/>
              </a:rPr>
              <a:t>AI writes the questions and a story game around them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09905" y="457200"/>
            <a:ext cx="7924190" cy="502920"/>
          </a:xfrm>
          <a:prstGeom prst="rect">
            <a:avLst/>
          </a:prstGeom>
          <a:noFill/>
          <a:ln/>
        </p:spPr>
        <p:txBody>
          <a:bodyPr wrap="square" lIns="0" tIns="0" rIns="0" bIns="0" rtlCol="0" anchor="t"/>
          <a:lstStyle/>
          <a:p>
            <a:pPr indent="0" marL="0">
              <a:buNone/>
            </a:pPr>
            <a:r>
              <a:rPr lang="en-US" sz="3000" b="1" dirty="0">
                <a:solidFill>
                  <a:srgbClr val="15171F"/>
                </a:solidFill>
                <a:latin typeface="Aptos Narrow" pitchFamily="34" charset="0"/>
                <a:ea typeface="Aptos Narrow" pitchFamily="34" charset="-122"/>
                <a:cs typeface="Aptos Narrow" pitchFamily="34" charset="-120"/>
              </a:rPr>
              <a:t>Fine-tune it </a:t>
            </a:r>
            <a:pPr indent="0" marL="0">
              <a:buNone/>
            </a:pPr>
            <a:r>
              <a:rPr lang="en-US" sz="3000" b="1" dirty="0">
                <a:solidFill>
                  <a:srgbClr val="D2361C"/>
                </a:solidFill>
                <a:latin typeface="Aptos Narrow" pitchFamily="34" charset="0"/>
                <a:ea typeface="Aptos Narrow" pitchFamily="34" charset="-122"/>
                <a:cs typeface="Aptos Narrow" pitchFamily="34" charset="-120"/>
              </a:rPr>
              <a:t>in the Game Builder</a:t>
            </a:r>
            <a:endParaRPr lang="en-US" sz="3000" dirty="0"/>
          </a:p>
        </p:txBody>
      </p:sp>
      <p:sp>
        <p:nvSpPr>
          <p:cNvPr id="3" name="Shape 1"/>
          <p:cNvSpPr/>
          <p:nvPr/>
        </p:nvSpPr>
        <p:spPr>
          <a:xfrm>
            <a:off x="3580790" y="1207008"/>
            <a:ext cx="4953305" cy="3269551"/>
          </a:xfrm>
          <a:prstGeom prst="roundRect">
            <a:avLst>
              <a:gd name="adj" fmla="val 2797"/>
            </a:avLst>
          </a:prstGeom>
          <a:solidFill>
            <a:srgbClr val="EEEBE5"/>
          </a:solidFill>
          <a:ln w="9525">
            <a:solidFill>
              <a:srgbClr val="E2DED6"/>
            </a:solidFill>
            <a:prstDash val="solid"/>
          </a:ln>
          <a:effectLst>
            <a:outerShdw sx="100000" sy="100000" kx="0" ky="0" algn="bl" rotWithShape="0" blurRad="228600" dist="101600" dir="5400000">
              <a:srgbClr val="15171F">
                <a:alpha val="16000"/>
              </a:srgbClr>
            </a:outerShdw>
          </a:effectLst>
        </p:spPr>
      </p:sp>
      <p:sp>
        <p:nvSpPr>
          <p:cNvPr id="4" name="Shape 2"/>
          <p:cNvSpPr/>
          <p:nvPr/>
        </p:nvSpPr>
        <p:spPr>
          <a:xfrm>
            <a:off x="3672230" y="1265530"/>
            <a:ext cx="56693" cy="56693"/>
          </a:xfrm>
          <a:prstGeom prst="ellipse">
            <a:avLst/>
          </a:prstGeom>
          <a:solidFill>
            <a:srgbClr val="E0705E"/>
          </a:solidFill>
          <a:ln w="12700">
            <a:solidFill>
              <a:srgbClr val="E0705E"/>
            </a:solidFill>
            <a:prstDash val="solid"/>
          </a:ln>
        </p:spPr>
      </p:sp>
      <p:sp>
        <p:nvSpPr>
          <p:cNvPr id="5" name="Shape 3"/>
          <p:cNvSpPr/>
          <p:nvPr/>
        </p:nvSpPr>
        <p:spPr>
          <a:xfrm>
            <a:off x="3772814" y="1265530"/>
            <a:ext cx="56693" cy="56693"/>
          </a:xfrm>
          <a:prstGeom prst="ellipse">
            <a:avLst/>
          </a:prstGeom>
          <a:solidFill>
            <a:srgbClr val="E8B44F"/>
          </a:solidFill>
          <a:ln w="12700">
            <a:solidFill>
              <a:srgbClr val="E8B44F"/>
            </a:solidFill>
            <a:prstDash val="solid"/>
          </a:ln>
        </p:spPr>
      </p:sp>
      <p:sp>
        <p:nvSpPr>
          <p:cNvPr id="6" name="Shape 4"/>
          <p:cNvSpPr/>
          <p:nvPr/>
        </p:nvSpPr>
        <p:spPr>
          <a:xfrm>
            <a:off x="3873398" y="1265530"/>
            <a:ext cx="56693" cy="56693"/>
          </a:xfrm>
          <a:prstGeom prst="ellipse">
            <a:avLst/>
          </a:prstGeom>
          <a:solidFill>
            <a:srgbClr val="7BB36A"/>
          </a:solidFill>
          <a:ln w="12700">
            <a:solidFill>
              <a:srgbClr val="7BB36A"/>
            </a:solidFill>
            <a:prstDash val="solid"/>
          </a:ln>
        </p:spPr>
      </p:sp>
      <p:pic>
        <p:nvPicPr>
          <p:cNvPr id="7" name="Image 0" descr="QuestPulse Game Editor: the business renames the café RPG quest, steps through the live preview, and recolours the whole game from the Styles panel before publishing">    </p:cNvPr>
          <p:cNvPicPr>
            <a:picLocks noChangeAspect="1"/>
          </p:cNvPicPr>
          <p:nvPr/>
        </p:nvPicPr>
        <p:blipFill>
          <a:blip r:embed="rId1"/>
          <a:stretch>
            <a:fillRect/>
          </a:stretch>
        </p:blipFill>
        <p:spPr>
          <a:xfrm>
            <a:off x="3580790" y="1380744"/>
            <a:ext cx="4953305" cy="3095815"/>
          </a:xfrm>
          <a:prstGeom prst="rect">
            <a:avLst/>
          </a:prstGeom>
        </p:spPr>
      </p:pic>
      <p:sp>
        <p:nvSpPr>
          <p:cNvPr id="8" name="Shape 5"/>
          <p:cNvSpPr/>
          <p:nvPr/>
        </p:nvSpPr>
        <p:spPr>
          <a:xfrm>
            <a:off x="609905" y="1371600"/>
            <a:ext cx="329184" cy="329184"/>
          </a:xfrm>
          <a:prstGeom prst="ellipse">
            <a:avLst/>
          </a:prstGeom>
          <a:solidFill>
            <a:srgbClr val="D2361C"/>
          </a:solidFill>
          <a:ln w="12700">
            <a:solidFill>
              <a:srgbClr val="D2361C"/>
            </a:solidFill>
            <a:prstDash val="solid"/>
          </a:ln>
        </p:spPr>
      </p:sp>
      <p:sp>
        <p:nvSpPr>
          <p:cNvPr id="9" name="Text 6"/>
          <p:cNvSpPr/>
          <p:nvPr/>
        </p:nvSpPr>
        <p:spPr>
          <a:xfrm>
            <a:off x="609905" y="1371600"/>
            <a:ext cx="329184" cy="329184"/>
          </a:xfrm>
          <a:prstGeom prst="rect">
            <a:avLst/>
          </a:prstGeom>
          <a:noFill/>
          <a:ln/>
        </p:spPr>
        <p:txBody>
          <a:bodyPr wrap="square" lIns="0" tIns="0" rIns="0" bIns="0" rtlCol="0" anchor="ctr"/>
          <a:lstStyle/>
          <a:p>
            <a:pPr algn="ctr" indent="0" marL="0">
              <a:buNone/>
            </a:pPr>
            <a:r>
              <a:rPr lang="en-US" sz="1500" b="1" dirty="0">
                <a:solidFill>
                  <a:srgbClr val="FFF8F2"/>
                </a:solidFill>
                <a:latin typeface="Aptos Narrow" pitchFamily="34" charset="0"/>
                <a:ea typeface="Aptos Narrow" pitchFamily="34" charset="-122"/>
                <a:cs typeface="Aptos Narrow" pitchFamily="34" charset="-120"/>
              </a:rPr>
              <a:t>1</a:t>
            </a:r>
            <a:endParaRPr lang="en-US" sz="1500" dirty="0"/>
          </a:p>
        </p:txBody>
      </p:sp>
      <p:sp>
        <p:nvSpPr>
          <p:cNvPr id="10" name="Text 7"/>
          <p:cNvSpPr/>
          <p:nvPr/>
        </p:nvSpPr>
        <p:spPr>
          <a:xfrm>
            <a:off x="1067105" y="1353312"/>
            <a:ext cx="2211934" cy="868680"/>
          </a:xfrm>
          <a:prstGeom prst="rect">
            <a:avLst/>
          </a:prstGeom>
          <a:noFill/>
          <a:ln/>
        </p:spPr>
        <p:txBody>
          <a:bodyPr wrap="square" lIns="0" tIns="0" rIns="0" bIns="0" rtlCol="0" anchor="t"/>
          <a:lstStyle/>
          <a:p>
            <a:pPr indent="0" marL="0">
              <a:buNone/>
            </a:pPr>
            <a:r>
              <a:rPr lang="en-US" sz="1500" b="1" dirty="0">
                <a:solidFill>
                  <a:srgbClr val="15171F"/>
                </a:solidFill>
                <a:latin typeface="Aptos" pitchFamily="34" charset="0"/>
                <a:ea typeface="Aptos" pitchFamily="34" charset="-122"/>
                <a:cs typeface="Aptos" pitchFamily="34" charset="-120"/>
              </a:rPr>
              <a:t>Edit any question</a:t>
            </a:r>
            <a:endParaRPr lang="en-US" sz="1500" dirty="0"/>
          </a:p>
          <a:p>
            <a:pPr indent="0" marL="0">
              <a:buNone/>
            </a:pPr>
            <a:r>
              <a:rPr lang="en-US" sz="400" dirty="0">
                <a:solidFill>
                  <a:srgbClr val="000000"/>
                </a:solidFill>
                <a:latin typeface="Aptos" pitchFamily="34" charset="0"/>
                <a:ea typeface="Aptos" pitchFamily="34" charset="-122"/>
                <a:cs typeface="Aptos" pitchFamily="34" charset="-120"/>
              </a:rPr>
              <a:t> </a:t>
            </a:r>
            <a:endParaRPr lang="en-US" sz="1500" dirty="0"/>
          </a:p>
          <a:p>
            <a:pPr indent="0" marL="0">
              <a:buNone/>
            </a:pPr>
            <a:r>
              <a:rPr lang="en-US" sz="1150" dirty="0">
                <a:solidFill>
                  <a:srgbClr val="4A4F5C"/>
                </a:solidFill>
                <a:latin typeface="Aptos" pitchFamily="34" charset="0"/>
                <a:ea typeface="Aptos" pitchFamily="34" charset="-122"/>
                <a:cs typeface="Aptos" pitchFamily="34" charset="-120"/>
              </a:rPr>
              <a:t>Change the wording and options, or ask AI for a new one</a:t>
            </a:r>
            <a:endParaRPr lang="en-US" sz="1500" dirty="0"/>
          </a:p>
        </p:txBody>
      </p:sp>
      <p:sp>
        <p:nvSpPr>
          <p:cNvPr id="11" name="Shape 8"/>
          <p:cNvSpPr/>
          <p:nvPr/>
        </p:nvSpPr>
        <p:spPr>
          <a:xfrm>
            <a:off x="609905" y="2395728"/>
            <a:ext cx="329184" cy="329184"/>
          </a:xfrm>
          <a:prstGeom prst="ellipse">
            <a:avLst/>
          </a:prstGeom>
          <a:solidFill>
            <a:srgbClr val="D2361C"/>
          </a:solidFill>
          <a:ln w="12700">
            <a:solidFill>
              <a:srgbClr val="D2361C"/>
            </a:solidFill>
            <a:prstDash val="solid"/>
          </a:ln>
        </p:spPr>
      </p:sp>
      <p:sp>
        <p:nvSpPr>
          <p:cNvPr id="12" name="Text 9"/>
          <p:cNvSpPr/>
          <p:nvPr/>
        </p:nvSpPr>
        <p:spPr>
          <a:xfrm>
            <a:off x="609905" y="2395728"/>
            <a:ext cx="329184" cy="329184"/>
          </a:xfrm>
          <a:prstGeom prst="rect">
            <a:avLst/>
          </a:prstGeom>
          <a:noFill/>
          <a:ln/>
        </p:spPr>
        <p:txBody>
          <a:bodyPr wrap="square" lIns="0" tIns="0" rIns="0" bIns="0" rtlCol="0" anchor="ctr"/>
          <a:lstStyle/>
          <a:p>
            <a:pPr algn="ctr" indent="0" marL="0">
              <a:buNone/>
            </a:pPr>
            <a:r>
              <a:rPr lang="en-US" sz="1500" b="1" dirty="0">
                <a:solidFill>
                  <a:srgbClr val="FFF8F2"/>
                </a:solidFill>
                <a:latin typeface="Aptos Narrow" pitchFamily="34" charset="0"/>
                <a:ea typeface="Aptos Narrow" pitchFamily="34" charset="-122"/>
                <a:cs typeface="Aptos Narrow" pitchFamily="34" charset="-120"/>
              </a:rPr>
              <a:t>2</a:t>
            </a:r>
            <a:endParaRPr lang="en-US" sz="1500" dirty="0"/>
          </a:p>
        </p:txBody>
      </p:sp>
      <p:sp>
        <p:nvSpPr>
          <p:cNvPr id="13" name="Text 10"/>
          <p:cNvSpPr/>
          <p:nvPr/>
        </p:nvSpPr>
        <p:spPr>
          <a:xfrm>
            <a:off x="1067105" y="2377440"/>
            <a:ext cx="2211934" cy="868680"/>
          </a:xfrm>
          <a:prstGeom prst="rect">
            <a:avLst/>
          </a:prstGeom>
          <a:noFill/>
          <a:ln/>
        </p:spPr>
        <p:txBody>
          <a:bodyPr wrap="square" lIns="0" tIns="0" rIns="0" bIns="0" rtlCol="0" anchor="t"/>
          <a:lstStyle/>
          <a:p>
            <a:pPr indent="0" marL="0">
              <a:buNone/>
            </a:pPr>
            <a:r>
              <a:rPr lang="en-US" sz="1500" b="1" dirty="0">
                <a:solidFill>
                  <a:srgbClr val="15171F"/>
                </a:solidFill>
                <a:latin typeface="Aptos" pitchFamily="34" charset="0"/>
                <a:ea typeface="Aptos" pitchFamily="34" charset="-122"/>
                <a:cs typeface="Aptos" pitchFamily="34" charset="-120"/>
              </a:rPr>
              <a:t>See the real game</a:t>
            </a:r>
            <a:endParaRPr lang="en-US" sz="1500" dirty="0"/>
          </a:p>
          <a:p>
            <a:pPr indent="0" marL="0">
              <a:buNone/>
            </a:pPr>
            <a:r>
              <a:rPr lang="en-US" sz="400" dirty="0">
                <a:solidFill>
                  <a:srgbClr val="000000"/>
                </a:solidFill>
                <a:latin typeface="Aptos" pitchFamily="34" charset="0"/>
                <a:ea typeface="Aptos" pitchFamily="34" charset="-122"/>
                <a:cs typeface="Aptos" pitchFamily="34" charset="-120"/>
              </a:rPr>
              <a:t> </a:t>
            </a:r>
            <a:endParaRPr lang="en-US" sz="1500" dirty="0"/>
          </a:p>
          <a:p>
            <a:pPr indent="0" marL="0">
              <a:buNone/>
            </a:pPr>
            <a:r>
              <a:rPr lang="en-US" sz="1150" dirty="0">
                <a:solidFill>
                  <a:srgbClr val="4A4F5C"/>
                </a:solidFill>
                <a:latin typeface="Aptos" pitchFamily="34" charset="0"/>
                <a:ea typeface="Aptos" pitchFamily="34" charset="-122"/>
                <a:cs typeface="Aptos" pitchFamily="34" charset="-120"/>
              </a:rPr>
              <a:t>A live preview, screen by screen, as players will see it</a:t>
            </a:r>
            <a:endParaRPr lang="en-US" sz="1500" dirty="0"/>
          </a:p>
        </p:txBody>
      </p:sp>
      <p:sp>
        <p:nvSpPr>
          <p:cNvPr id="14" name="Shape 11"/>
          <p:cNvSpPr/>
          <p:nvPr/>
        </p:nvSpPr>
        <p:spPr>
          <a:xfrm>
            <a:off x="609905" y="3419856"/>
            <a:ext cx="329184" cy="329184"/>
          </a:xfrm>
          <a:prstGeom prst="ellipse">
            <a:avLst/>
          </a:prstGeom>
          <a:solidFill>
            <a:srgbClr val="D2361C"/>
          </a:solidFill>
          <a:ln w="12700">
            <a:solidFill>
              <a:srgbClr val="D2361C"/>
            </a:solidFill>
            <a:prstDash val="solid"/>
          </a:ln>
        </p:spPr>
      </p:sp>
      <p:sp>
        <p:nvSpPr>
          <p:cNvPr id="15" name="Text 12"/>
          <p:cNvSpPr/>
          <p:nvPr/>
        </p:nvSpPr>
        <p:spPr>
          <a:xfrm>
            <a:off x="609905" y="3419856"/>
            <a:ext cx="329184" cy="329184"/>
          </a:xfrm>
          <a:prstGeom prst="rect">
            <a:avLst/>
          </a:prstGeom>
          <a:noFill/>
          <a:ln/>
        </p:spPr>
        <p:txBody>
          <a:bodyPr wrap="square" lIns="0" tIns="0" rIns="0" bIns="0" rtlCol="0" anchor="ctr"/>
          <a:lstStyle/>
          <a:p>
            <a:pPr algn="ctr" indent="0" marL="0">
              <a:buNone/>
            </a:pPr>
            <a:r>
              <a:rPr lang="en-US" sz="1500" b="1" dirty="0">
                <a:solidFill>
                  <a:srgbClr val="FFF8F2"/>
                </a:solidFill>
                <a:latin typeface="Aptos Narrow" pitchFamily="34" charset="0"/>
                <a:ea typeface="Aptos Narrow" pitchFamily="34" charset="-122"/>
                <a:cs typeface="Aptos Narrow" pitchFamily="34" charset="-120"/>
              </a:rPr>
              <a:t>3</a:t>
            </a:r>
            <a:endParaRPr lang="en-US" sz="1500" dirty="0"/>
          </a:p>
        </p:txBody>
      </p:sp>
      <p:sp>
        <p:nvSpPr>
          <p:cNvPr id="16" name="Text 13"/>
          <p:cNvSpPr/>
          <p:nvPr/>
        </p:nvSpPr>
        <p:spPr>
          <a:xfrm>
            <a:off x="1067105" y="3401568"/>
            <a:ext cx="2211934" cy="868680"/>
          </a:xfrm>
          <a:prstGeom prst="rect">
            <a:avLst/>
          </a:prstGeom>
          <a:noFill/>
          <a:ln/>
        </p:spPr>
        <p:txBody>
          <a:bodyPr wrap="square" lIns="0" tIns="0" rIns="0" bIns="0" rtlCol="0" anchor="t"/>
          <a:lstStyle/>
          <a:p>
            <a:pPr indent="0" marL="0">
              <a:buNone/>
            </a:pPr>
            <a:r>
              <a:rPr lang="en-US" sz="1500" b="1" dirty="0">
                <a:solidFill>
                  <a:srgbClr val="15171F"/>
                </a:solidFill>
                <a:latin typeface="Aptos" pitchFamily="34" charset="0"/>
                <a:ea typeface="Aptos" pitchFamily="34" charset="-122"/>
                <a:cs typeface="Aptos" pitchFamily="34" charset="-120"/>
              </a:rPr>
              <a:t>Make it yours, then publish</a:t>
            </a:r>
            <a:endParaRPr lang="en-US" sz="1500" dirty="0"/>
          </a:p>
          <a:p>
            <a:pPr indent="0" marL="0">
              <a:buNone/>
            </a:pPr>
            <a:r>
              <a:rPr lang="en-US" sz="400" dirty="0">
                <a:solidFill>
                  <a:srgbClr val="000000"/>
                </a:solidFill>
                <a:latin typeface="Aptos" pitchFamily="34" charset="0"/>
                <a:ea typeface="Aptos" pitchFamily="34" charset="-122"/>
                <a:cs typeface="Aptos" pitchFamily="34" charset="-120"/>
              </a:rPr>
              <a:t> </a:t>
            </a:r>
            <a:endParaRPr lang="en-US" sz="1500" dirty="0"/>
          </a:p>
          <a:p>
            <a:pPr indent="0" marL="0">
              <a:buNone/>
            </a:pPr>
            <a:r>
              <a:rPr lang="en-US" sz="1150" dirty="0">
                <a:solidFill>
                  <a:srgbClr val="4A4F5C"/>
                </a:solidFill>
                <a:latin typeface="Aptos" pitchFamily="34" charset="0"/>
                <a:ea typeface="Aptos" pitchFamily="34" charset="-122"/>
                <a:cs typeface="Aptos" pitchFamily="34" charset="-120"/>
              </a:rPr>
              <a:t>Name, fonts and colours, then one short link to share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8"/>
        </a:solidFill>
      </p:bgPr>
    </p:bg>
    <p:spTree>
      <p:nvGrpSpPr>
        <p:cNvPr id="1" name=""/>
        <p:cNvGrpSpPr/>
        <p:nvPr/>
      </p:nvGrpSpPr>
      <p:grpSpPr>
        <a:xfrm>
          <a:off x="0" y="0"/>
          <a:ext cx="0" cy="0"/>
          <a:chOff x="0" y="0"/>
          <a:chExt cx="0" cy="0"/>
        </a:xfrm>
      </p:grpSpPr>
      <p:sp>
        <p:nvSpPr>
          <p:cNvPr id="2" name="Text 0"/>
          <p:cNvSpPr/>
          <p:nvPr/>
        </p:nvSpPr>
        <p:spPr>
          <a:xfrm>
            <a:off x="609905" y="457200"/>
            <a:ext cx="7924190" cy="502920"/>
          </a:xfrm>
          <a:prstGeom prst="rect">
            <a:avLst/>
          </a:prstGeom>
          <a:noFill/>
          <a:ln/>
        </p:spPr>
        <p:txBody>
          <a:bodyPr wrap="square" lIns="0" tIns="0" rIns="0" bIns="0" rtlCol="0" anchor="t"/>
          <a:lstStyle/>
          <a:p>
            <a:pPr indent="0" marL="0">
              <a:buNone/>
            </a:pPr>
            <a:r>
              <a:rPr lang="en-US" sz="3000" b="1" dirty="0">
                <a:solidFill>
                  <a:srgbClr val="15171F"/>
                </a:solidFill>
                <a:latin typeface="Aptos Narrow" pitchFamily="34" charset="0"/>
                <a:ea typeface="Aptos Narrow" pitchFamily="34" charset="-122"/>
                <a:cs typeface="Aptos Narrow" pitchFamily="34" charset="-120"/>
              </a:rPr>
              <a:t>Players just tap and play, </a:t>
            </a:r>
            <a:pPr indent="0" marL="0">
              <a:buNone/>
            </a:pPr>
            <a:r>
              <a:rPr lang="en-US" sz="3000" b="1" dirty="0">
                <a:solidFill>
                  <a:srgbClr val="D2361C"/>
                </a:solidFill>
                <a:latin typeface="Aptos Narrow" pitchFamily="34" charset="0"/>
                <a:ea typeface="Aptos Narrow" pitchFamily="34" charset="-122"/>
                <a:cs typeface="Aptos Narrow" pitchFamily="34" charset="-120"/>
              </a:rPr>
              <a:t>on any phone</a:t>
            </a:r>
            <a:endParaRPr lang="en-US" sz="3000" dirty="0"/>
          </a:p>
        </p:txBody>
      </p:sp>
      <p:sp>
        <p:nvSpPr>
          <p:cNvPr id="3" name="Shape 1"/>
          <p:cNvSpPr/>
          <p:nvPr/>
        </p:nvSpPr>
        <p:spPr>
          <a:xfrm>
            <a:off x="973836" y="1359713"/>
            <a:ext cx="1367028" cy="2800807"/>
          </a:xfrm>
          <a:prstGeom prst="roundRect">
            <a:avLst>
              <a:gd name="adj" fmla="val 14716"/>
            </a:avLst>
          </a:prstGeom>
          <a:solidFill>
            <a:srgbClr val="15171F"/>
          </a:solidFill>
          <a:ln w="12700">
            <a:solidFill>
              <a:srgbClr val="15171F"/>
            </a:solidFill>
            <a:prstDash val="solid"/>
          </a:ln>
          <a:effectLst>
            <a:outerShdw sx="100000" sy="100000" kx="0" ky="0" algn="bl" rotWithShape="0" blurRad="228600" dist="101600" dir="5400000">
              <a:srgbClr val="15171F">
                <a:alpha val="22000"/>
              </a:srgbClr>
            </a:outerShdw>
          </a:effectLst>
        </p:spPr>
      </p:sp>
      <p:pic>
        <p:nvPicPr>
          <p:cNvPr id="4" name="Image 0" descr="A player holding a phone upright plays the café detective game: opens the case, answers a witness, sees a clue pinned to the evidence board, then rates the coffee for the next witness">    </p:cNvPr>
          <p:cNvPicPr>
            <a:picLocks noChangeAspect="1"/>
          </p:cNvPicPr>
          <p:nvPr/>
        </p:nvPicPr>
        <p:blipFill>
          <a:blip r:embed="rId1"/>
          <a:stretch>
            <a:fillRect/>
          </a:stretch>
        </p:blipFill>
        <p:spPr>
          <a:xfrm>
            <a:off x="1040587" y="1426464"/>
            <a:ext cx="1233526" cy="2667305"/>
          </a:xfrm>
          <a:prstGeom prst="rect">
            <a:avLst/>
          </a:prstGeom>
        </p:spPr>
      </p:pic>
      <p:sp>
        <p:nvSpPr>
          <p:cNvPr id="5" name="Text 2"/>
          <p:cNvSpPr/>
          <p:nvPr/>
        </p:nvSpPr>
        <p:spPr>
          <a:xfrm>
            <a:off x="-171450" y="4279392"/>
            <a:ext cx="3657600" cy="274320"/>
          </a:xfrm>
          <a:prstGeom prst="rect">
            <a:avLst/>
          </a:prstGeom>
          <a:noFill/>
          <a:ln/>
        </p:spPr>
        <p:txBody>
          <a:bodyPr wrap="square" lIns="0" tIns="0" rIns="0" bIns="0" rtlCol="0" anchor="ctr"/>
          <a:lstStyle/>
          <a:p>
            <a:pPr algn="ctr" indent="0" marL="0">
              <a:buNone/>
            </a:pPr>
            <a:r>
              <a:rPr lang="en-US" sz="1300" b="1" dirty="0">
                <a:solidFill>
                  <a:srgbClr val="D2361C"/>
                </a:solidFill>
                <a:latin typeface="Aptos" pitchFamily="34" charset="0"/>
                <a:ea typeface="Aptos" pitchFamily="34" charset="-122"/>
                <a:cs typeface="Aptos" pitchFamily="34" charset="-120"/>
              </a:rPr>
              <a:t>Detective</a:t>
            </a:r>
            <a:pPr algn="ctr" indent="0" marL="0">
              <a:buNone/>
            </a:pPr>
            <a:r>
              <a:rPr lang="en-US" sz="1300" b="1" dirty="0">
                <a:solidFill>
                  <a:srgbClr val="15171F"/>
                </a:solidFill>
                <a:latin typeface="Aptos" pitchFamily="34" charset="0"/>
                <a:ea typeface="Aptos" pitchFamily="34" charset="-122"/>
                <a:cs typeface="Aptos" pitchFamily="34" charset="-120"/>
              </a:rPr>
              <a:t> · upright</a:t>
            </a:r>
            <a:endParaRPr lang="en-US" sz="1300" dirty="0"/>
          </a:p>
        </p:txBody>
      </p:sp>
      <p:sp>
        <p:nvSpPr>
          <p:cNvPr id="6" name="Shape 3"/>
          <p:cNvSpPr/>
          <p:nvPr/>
        </p:nvSpPr>
        <p:spPr>
          <a:xfrm>
            <a:off x="3115818" y="1610068"/>
            <a:ext cx="5372100" cy="2550452"/>
          </a:xfrm>
          <a:prstGeom prst="roundRect">
            <a:avLst>
              <a:gd name="adj" fmla="val 7888"/>
            </a:avLst>
          </a:prstGeom>
          <a:solidFill>
            <a:srgbClr val="15171F"/>
          </a:solidFill>
          <a:ln w="12700">
            <a:solidFill>
              <a:srgbClr val="15171F"/>
            </a:solidFill>
            <a:prstDash val="solid"/>
          </a:ln>
          <a:effectLst>
            <a:outerShdw sx="100000" sy="100000" kx="0" ky="0" algn="bl" rotWithShape="0" blurRad="228600" dist="101600" dir="5400000">
              <a:srgbClr val="15171F">
                <a:alpha val="22000"/>
              </a:srgbClr>
            </a:outerShdw>
          </a:effectLst>
        </p:spPr>
      </p:sp>
      <p:pic>
        <p:nvPicPr>
          <p:cNvPr id="7" name="Image 1" descr="A player holding a phone sideways plays the café platformer: runs and jumps to the first checkpoint, answers a question and collects a star">    </p:cNvPr>
          <p:cNvPicPr>
            <a:picLocks noChangeAspect="1"/>
          </p:cNvPicPr>
          <p:nvPr/>
        </p:nvPicPr>
        <p:blipFill>
          <a:blip r:embed="rId2"/>
          <a:stretch>
            <a:fillRect/>
          </a:stretch>
        </p:blipFill>
        <p:spPr>
          <a:xfrm>
            <a:off x="3182569" y="1676819"/>
            <a:ext cx="5238598" cy="2416950"/>
          </a:xfrm>
          <a:prstGeom prst="rect">
            <a:avLst/>
          </a:prstGeom>
        </p:spPr>
      </p:pic>
      <p:sp>
        <p:nvSpPr>
          <p:cNvPr id="8" name="Text 4"/>
          <p:cNvSpPr/>
          <p:nvPr/>
        </p:nvSpPr>
        <p:spPr>
          <a:xfrm>
            <a:off x="3973068" y="4279392"/>
            <a:ext cx="3657600" cy="274320"/>
          </a:xfrm>
          <a:prstGeom prst="rect">
            <a:avLst/>
          </a:prstGeom>
          <a:noFill/>
          <a:ln/>
        </p:spPr>
        <p:txBody>
          <a:bodyPr wrap="square" lIns="0" tIns="0" rIns="0" bIns="0" rtlCol="0" anchor="ctr"/>
          <a:lstStyle/>
          <a:p>
            <a:pPr algn="ctr" indent="0" marL="0">
              <a:buNone/>
            </a:pPr>
            <a:r>
              <a:rPr lang="en-US" sz="1300" b="1" dirty="0">
                <a:solidFill>
                  <a:srgbClr val="D2361C"/>
                </a:solidFill>
                <a:latin typeface="Aptos" pitchFamily="34" charset="0"/>
                <a:ea typeface="Aptos" pitchFamily="34" charset="-122"/>
                <a:cs typeface="Aptos" pitchFamily="34" charset="-120"/>
              </a:rPr>
              <a:t>Platformer</a:t>
            </a:r>
            <a:pPr algn="ctr" indent="0" marL="0">
              <a:buNone/>
            </a:pPr>
            <a:r>
              <a:rPr lang="en-US" sz="1300" b="1" dirty="0">
                <a:solidFill>
                  <a:srgbClr val="15171F"/>
                </a:solidFill>
                <a:latin typeface="Aptos" pitchFamily="34" charset="0"/>
                <a:ea typeface="Aptos" pitchFamily="34" charset="-122"/>
                <a:cs typeface="Aptos" pitchFamily="34" charset="-120"/>
              </a:rPr>
              <a:t> · sideways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QuestPulse</dc:title>
  <dc:subject>PptxGenJS Presentation</dc:subject>
  <dc:creator>Hansa Malhotra</dc:creator>
  <cp:lastModifiedBy>Hansa Malhotra</cp:lastModifiedBy>
  <cp:revision>1</cp:revision>
  <dcterms:created xsi:type="dcterms:W3CDTF">2026-10-16T17:29:34Z</dcterms:created>
  <dcterms:modified xsi:type="dcterms:W3CDTF">2026-10-16T17:29:34Z</dcterms:modified>
</cp:coreProperties>
</file>